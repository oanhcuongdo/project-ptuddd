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2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2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2200"/>
      </a:defPPr>
      <a:lvl1pPr algn="l" defTabSz="342900" eaLnBrk="1" hangingPunct="1" latinLnBrk="0" marL="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2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TÌM HIỂU VỀ GOOGLE FIREBASE VÀ HƯỚNG DẪN THIẾT LẬP DỰ ÁN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Tích hợp Google Authentication, Cloud Firestore &amp; Firebase Storage vào Ứng dụng Quản lý Tài liệu Học tập</a:t>
            </a:r>
            <a:br/>
            <a:br/>
            <a:r>
              <a:rPr/>
              <a:t>Nhóm 11 - Kiến trúc Phần mềm Cashew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2200"/>
              <a:t>Tháng 10/2026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Tổng quan &amp; Mục tiêu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Đề tài</a:t>
            </a:r>
            <a:r>
              <a:rPr sz="2200"/>
              <a:t>: Xây dựng &amp; Tích hợp Cloud cho Hệ thống Quản lý Tài liệu Học tập.</a:t>
            </a:r>
          </a:p>
          <a:p>
            <a:pPr lvl="0"/>
            <a:r>
              <a:rPr b="1" sz="2200"/>
              <a:t>Nền tảng Cloud lựa chọn</a:t>
            </a:r>
            <a:r>
              <a:rPr sz="2200"/>
              <a:t>: </a:t>
            </a:r>
            <a:r>
              <a:rPr b="1" sz="2200"/>
              <a:t>Google Firebase (BaaS)</a:t>
            </a:r>
            <a:r>
              <a:rPr sz="2200"/>
              <a:t> kết hợp kiến trúc </a:t>
            </a:r>
            <a:r>
              <a:rPr b="1" sz="2200"/>
              <a:t>Cashew (Local-First)</a:t>
            </a:r>
            <a:r>
              <a:rPr sz="2200"/>
              <a:t>.</a:t>
            </a:r>
          </a:p>
          <a:p>
            <a:pPr lvl="0"/>
            <a:r>
              <a:rPr b="1" sz="2200"/>
              <a:t>Mục tiêu chính</a:t>
            </a:r>
            <a:r>
              <a:rPr sz="2200"/>
              <a:t>:</a:t>
            </a:r>
          </a:p>
          <a:p>
            <a:pPr lvl="1"/>
            <a:r>
              <a:rPr sz="2200"/>
              <a:t>Tích hợp </a:t>
            </a:r>
            <a:r>
              <a:rPr b="1" sz="2200"/>
              <a:t>Google Authentication</a:t>
            </a:r>
            <a:r>
              <a:rPr sz="2200"/>
              <a:t> xác thực người dùng an toàn qua tài khoản Google.</a:t>
            </a:r>
          </a:p>
          <a:p>
            <a:pPr lvl="1"/>
            <a:r>
              <a:rPr sz="2200"/>
              <a:t>Tích hợp </a:t>
            </a:r>
            <a:r>
              <a:rPr b="1" sz="2200"/>
              <a:t>Cloud Firestore</a:t>
            </a:r>
            <a:r>
              <a:rPr sz="2200"/>
              <a:t> đồng bộ cơ sở dữ liệu tài liệu &amp; môn học lên đám mây.</a:t>
            </a:r>
          </a:p>
          <a:p>
            <a:pPr lvl="1"/>
            <a:r>
              <a:rPr sz="2200"/>
              <a:t>Tích hợp </a:t>
            </a:r>
            <a:r>
              <a:rPr b="1" sz="2200"/>
              <a:t>Firebase Storage</a:t>
            </a:r>
            <a:r>
              <a:rPr sz="2200"/>
              <a:t> lưu trữ tập tin tài liệu nhị phân (PDF, DOCX, Slide bài giảng, hình ảnh).</a:t>
            </a:r>
          </a:p>
          <a:p>
            <a:pPr lvl="1"/>
            <a:r>
              <a:rPr sz="2200"/>
              <a:t>Xây dựng quy trình thiết lập (Setup) chuẩn hóa cho tài khoản và dự án của nhóm.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Nội dung Trình bày (Agenda)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 sz="2200"/>
              <a:t>Tổng quan về Nền tảng Google Firebase</a:t>
            </a:r>
          </a:p>
          <a:p>
            <a:pPr lvl="0" indent="-342900" marL="342900">
              <a:buAutoNum type="arabicPeriod"/>
            </a:pPr>
            <a:r>
              <a:rPr b="1" sz="2200"/>
              <a:t>Các Dịch vụ Cốt lõi được sử dụng trong Đề tài</a:t>
            </a:r>
          </a:p>
          <a:p>
            <a:pPr lvl="0" indent="-342900" marL="342900">
              <a:buAutoNum type="arabicPeriod"/>
            </a:pPr>
            <a:r>
              <a:rPr b="1" sz="2200"/>
              <a:t>Kiến trúc Tích hợp Cloud vào Ứng dụng Cashew</a:t>
            </a:r>
          </a:p>
          <a:p>
            <a:pPr lvl="0" indent="-342900" marL="342900">
              <a:buAutoNum type="arabicPeriod"/>
            </a:pPr>
            <a:r>
              <a:rPr b="1" sz="2200"/>
              <a:t>Quy trình Thiết lập (Setup) với Tài khoản của Nhóm</a:t>
            </a:r>
          </a:p>
          <a:p>
            <a:pPr lvl="0" indent="-342900" marL="342900">
              <a:buAutoNum type="arabicPeriod"/>
            </a:pPr>
            <a:r>
              <a:rPr b="1" sz="2200"/>
              <a:t>Triển khai Mã nguồn FlutterFire trong Dự án</a:t>
            </a:r>
          </a:p>
          <a:p>
            <a:pPr lvl="0" indent="-342900" marL="342900">
              <a:buAutoNum type="arabicPeriod"/>
            </a:pPr>
            <a:r>
              <a:rPr b="1" sz="2200"/>
              <a:t>Thiết lập Quy tắc Bảo mật (Security Rules)</a:t>
            </a:r>
          </a:p>
          <a:p>
            <a:pPr lvl="0" indent="-342900" marL="342900">
              <a:buAutoNum type="arabicPeriod"/>
            </a:pPr>
            <a:r>
              <a:rPr b="1" sz="2200"/>
              <a:t>Đánh giá Chi phí, Hiệu năng &amp; Kết luận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Google Firebase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Google Firebase</a:t>
            </a:r>
            <a:r>
              <a:rPr sz="2200"/>
              <a:t>: Nền tảng phát triển ứng dụng </a:t>
            </a:r>
            <a:r>
              <a:rPr b="1" sz="2200"/>
              <a:t>Backend-as-a-Service (BaaS)</a:t>
            </a:r>
            <a:r>
              <a:rPr sz="2200"/>
              <a:t> toàn diện do Google vận hành.</a:t>
            </a:r>
          </a:p>
          <a:p>
            <a:pPr lvl="0"/>
            <a:r>
              <a:rPr b="1" sz="2200"/>
              <a:t>Ưu điểm vượt trội</a:t>
            </a:r>
            <a:r>
              <a:rPr sz="2200"/>
              <a:t>:</a:t>
            </a:r>
          </a:p>
          <a:p>
            <a:pPr lvl="1"/>
            <a:r>
              <a:rPr b="1" sz="2200"/>
              <a:t>Mô hình Serverless</a:t>
            </a:r>
            <a:r>
              <a:rPr sz="2200"/>
              <a:t>: Lập trình viên tập trung 100% vào nghiệp vụ ứng dụng (Client), không cần quản lý máy chủ vật lý hay hệ điều hành Linux.</a:t>
            </a:r>
          </a:p>
          <a:p>
            <a:pPr lvl="1"/>
            <a:r>
              <a:rPr b="1" sz="2200"/>
              <a:t>Tương thích hoàn hảo với Flutter</a:t>
            </a:r>
            <a:r>
              <a:rPr sz="2200"/>
              <a:t>: Được Google phát triển bộ thư viện chính thức </a:t>
            </a:r>
            <a:r>
              <a:rPr b="1" sz="2200"/>
              <a:t>FlutterFire SDK</a:t>
            </a:r>
            <a:r>
              <a:rPr sz="2200"/>
              <a:t>.</a:t>
            </a:r>
          </a:p>
          <a:p>
            <a:pPr lvl="1"/>
            <a:r>
              <a:rPr b="1" sz="2200"/>
              <a:t>Đồng bộ thời gian thực (Realtime)</a:t>
            </a:r>
            <a:r>
              <a:rPr sz="2200"/>
              <a:t>: Hỗ trợ tự động lắng nghe luồng dữ liệu thay đổi và lưu cache offline.</a:t>
            </a:r>
          </a:p>
          <a:p>
            <a:pPr lvl="1"/>
            <a:r>
              <a:rPr b="1" sz="2200"/>
              <a:t>Khả năng mở rộng tự động</a:t>
            </a:r>
            <a:r>
              <a:rPr sz="2200"/>
              <a:t>: Tự co giãn từ vài người dùng đến hàng triệu người dùng theo chuẩn Google Cloud Platform.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So sánh: Backend Truyền thống vs. Google Firebase BaaS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Tiêu chí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Mô hình Tự dựng Backend (NodeJS/Java/VPS)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Mô hình Google Firebase BaaS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Thời gian triển khai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2 - 4 tuần (setup server, database, API)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Vài giờ</a:t>
                      </a:r>
                      <a:r>
                        <a:rPr sz="2200"/>
                        <a:t> (SDK sẵn sàng, cấu hình qua CLI)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Quản trị &amp; Bảo trì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Cần kỹ sư DevOps vá lỗi OS, Docker, mạng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Google tự quản lý 100%</a:t>
                      </a:r>
                      <a:r>
                        <a:rPr sz="2200"/>
                        <a:t>, SLA 99.95%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Xác thực (Auth)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Tự viết mã hash, JWT, refresh token, OAuth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Firebase Auth tích hợp sẵn</a:t>
                      </a:r>
                      <a:r>
                        <a:rPr sz="2200"/>
                        <a:t> đa nhà cung cấp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Lưu trữ Tệp lớn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Tự dựng FTP/MinIO hoặc kết nối S3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Firebase Storage</a:t>
                      </a:r>
                      <a:r>
                        <a:rPr sz="2200"/>
                        <a:t> kèm CDN toàn cầu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Chi phí ban đầu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sz="2200"/>
                        <a:t>Tốn phí thuê VPS/máy chủ cố định hàng tháng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 sz="2200"/>
                        <a:t>Miễn phí (Gói Spark)</a:t>
                      </a:r>
                      <a:r>
                        <a:rPr sz="2200"/>
                        <a:t> cực kỳ hào phóng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Các Dịch vụ Firebase Cốt lõi trong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1. Firebase Authentication</a:t>
            </a:r>
            <a:r>
              <a:rPr sz="2200"/>
              <a:t>:</a:t>
            </a:r>
          </a:p>
          <a:p>
            <a:pPr lvl="1"/>
            <a:r>
              <a:rPr sz="2200"/>
              <a:t>Hỗ trợ xác thực người dùng bằng </a:t>
            </a:r>
            <a:r>
              <a:rPr b="1" sz="2200"/>
              <a:t>Google Sign-In</a:t>
            </a:r>
            <a:r>
              <a:rPr sz="2200"/>
              <a:t> qua chuẩn OAuth 2.0 / OpenID Connect.</a:t>
            </a:r>
          </a:p>
          <a:p>
            <a:pPr lvl="1"/>
            <a:r>
              <a:rPr sz="2200"/>
              <a:t>Quản lý phiên đăng nhập an toàn, cung cấp </a:t>
            </a:r>
            <a:r>
              <a:rPr sz="2200">
                <a:latin typeface="Courier"/>
              </a:rPr>
              <a:t>UID</a:t>
            </a:r>
            <a:r>
              <a:rPr sz="2200"/>
              <a:t> duy nhất cho mỗi sinh viên.</a:t>
            </a:r>
          </a:p>
          <a:p>
            <a:pPr lvl="0"/>
            <a:r>
              <a:rPr b="1" sz="2200"/>
              <a:t>2. Cloud Firestore</a:t>
            </a:r>
            <a:r>
              <a:rPr sz="2200"/>
              <a:t>:</a:t>
            </a:r>
          </a:p>
          <a:p>
            <a:pPr lvl="1"/>
            <a:r>
              <a:rPr sz="2200"/>
              <a:t>Cơ sở dữ liệu NoSQL dạng Document-Collection phân tán toàn cầu.</a:t>
            </a:r>
          </a:p>
          <a:p>
            <a:pPr lvl="1"/>
            <a:r>
              <a:rPr sz="2200"/>
              <a:t>Hỗ trợ ghi dữ liệu theo lô (</a:t>
            </a:r>
            <a:r>
              <a:rPr b="1" sz="2200"/>
              <a:t>WriteBatch</a:t>
            </a:r>
            <a:r>
              <a:rPr sz="2200"/>
              <a:t>) đảm bảo tính toàn vẹn (ACID atomic).</a:t>
            </a:r>
          </a:p>
          <a:p>
            <a:pPr lvl="0"/>
            <a:r>
              <a:rPr b="1" sz="2200"/>
              <a:t>3. Firebase Cloud Storage</a:t>
            </a:r>
            <a:r>
              <a:rPr sz="2200"/>
              <a:t>:</a:t>
            </a:r>
          </a:p>
          <a:p>
            <a:pPr lvl="1"/>
            <a:r>
              <a:rPr sz="2200"/>
              <a:t>Lưu trữ dữ liệu đối tượng (Object Storage) cho các file bài giảng, giáo trình PDF.</a:t>
            </a:r>
          </a:p>
          <a:p>
            <a:pPr lvl="1"/>
            <a:r>
              <a:rPr sz="2200"/>
              <a:t>Tải lên an toàn với metadata tùy biến và tạo URL tải xuống trực tiếp.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Kiến trúc Tích hợp Cloud Cashew (Hybrid / Local-First)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Triết lý Local-First (Drift SQLite)</a:t>
            </a:r>
            <a:r>
              <a:rPr sz="2200"/>
              <a:t>:</a:t>
            </a:r>
          </a:p>
          <a:p>
            <a:pPr lvl="1"/>
            <a:r>
              <a:rPr sz="2200"/>
              <a:t>Thiết bị người dùng là nguồn dữ liệu chính (</a:t>
            </a:r>
            <a:r>
              <a:rPr i="1" sz="2200"/>
              <a:t>Source of Truth</a:t>
            </a:r>
            <a:r>
              <a:rPr sz="2200"/>
              <a:t> khi offline).</a:t>
            </a:r>
          </a:p>
          <a:p>
            <a:pPr lvl="1"/>
            <a:r>
              <a:rPr sz="2200"/>
              <a:t>Tốc độ đọc/ghi phản hồi tức thì với độ trễ </a:t>
            </a:r>
            <a:r>
              <a:rPr b="1" sz="2200"/>
              <a:t>0ms</a:t>
            </a:r>
            <a:r>
              <a:rPr sz="2200"/>
              <a:t>.</a:t>
            </a:r>
          </a:p>
          <a:p>
            <a:pPr lvl="0"/>
            <a:r>
              <a:rPr b="1" sz="2200"/>
              <a:t>Tầng Cloud (Firebase)</a:t>
            </a:r>
            <a:r>
              <a:rPr sz="2200"/>
              <a:t>:</a:t>
            </a:r>
          </a:p>
          <a:p>
            <a:pPr lvl="1"/>
            <a:r>
              <a:rPr sz="2200"/>
              <a:t>Đóng vai trò là tầng </a:t>
            </a:r>
            <a:r>
              <a:rPr b="1" sz="2200"/>
              <a:t>Đồng bộ hóa &amp; Sao lưu phân tán</a:t>
            </a:r>
            <a:r>
              <a:rPr sz="2200"/>
              <a:t> (Sync &amp; Remote Backup).</a:t>
            </a:r>
          </a:p>
          <a:p>
            <a:pPr lvl="1"/>
            <a:r>
              <a:rPr sz="2200"/>
              <a:t>Người dùng đăng nhập bằng tài khoản Google trên bất kỳ thiết bị nào cũng có thể khôi phục toàn bộ tài liệu học tập của mình.</a:t>
            </a:r>
          </a:p>
          <a:p>
            <a:pPr lvl="0"/>
            <a:r>
              <a:rPr b="1" sz="2200"/>
              <a:t>Phân tách trách nhiệm theo Cashew</a:t>
            </a:r>
            <a:r>
              <a:rPr sz="2200"/>
              <a:t>:</a:t>
            </a:r>
          </a:p>
          <a:p>
            <a:pPr lvl="1"/>
            <a:r>
              <a:rPr sz="2200"/>
              <a:t>UI gọi Provider -&gt; Provider gọi Domain Services (</a:t>
            </a:r>
            <a:r>
              <a:rPr sz="2200">
                <a:latin typeface="Courier"/>
              </a:rPr>
              <a:t>AuthService</a:t>
            </a:r>
            <a:r>
              <a:rPr sz="2200"/>
              <a:t>, </a:t>
            </a:r>
            <a:r>
              <a:rPr sz="2200">
                <a:latin typeface="Courier"/>
              </a:rPr>
              <a:t>FirebaseSyncService</a:t>
            </a:r>
            <a:r>
              <a:rPr sz="2200"/>
              <a:t>) -&gt; Service tương tác với Database DAO &amp; Firebase SDK.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Sơ đồ Luồng Dữ liệu (Data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2200">
                <a:latin typeface="Courier"/>
              </a:rPr>
              <a:t>[Người dùng] ---&gt; [Giao diện Settings / Auth UI]
                         │
        (1) Nhấn Đăng nhập Google
                         ▼
        [AuthService (Domain)] ───&gt; [Google Sign-In &amp; Firebase Auth]
                         │                    │
                         │              (Lấy User UID)
                         ▼                    │
     [Tài liệu &amp; Môn học trong SQLite]        │
                         │                    │
        (2) Nhấn "Đồng bộ lên Cloud"          │
                         ▼                    ▼
     [FirebaseSyncService] ───────&gt; [Firestore: users/{UID}/documents]
                         │         [Firestore: users/{UID}/subjects]
                         ▼
                     [Storage: users/{UID}/documents/{fileName}]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Thông tin Tài khoản &amp; Dự án Firebase của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Tên dự án</a:t>
            </a:r>
            <a:r>
              <a:rPr sz="2200"/>
              <a:t>: </a:t>
            </a:r>
            <a:r>
              <a:rPr sz="2200">
                <a:latin typeface="Courier"/>
              </a:rPr>
              <a:t>Study Material Manager</a:t>
            </a:r>
            <a:r>
              <a:rPr sz="2200"/>
              <a:t> (Dự án nhóm 11)</a:t>
            </a:r>
          </a:p>
          <a:p>
            <a:pPr lvl="0"/>
            <a:r>
              <a:rPr b="1" sz="2200"/>
              <a:t>Project ID</a:t>
            </a:r>
            <a:r>
              <a:rPr sz="2200"/>
              <a:t>: </a:t>
            </a:r>
            <a:r>
              <a:rPr sz="2200">
                <a:latin typeface="Courier"/>
              </a:rPr>
              <a:t>study-material-nhom11</a:t>
            </a:r>
          </a:p>
          <a:p>
            <a:pPr lvl="0"/>
            <a:r>
              <a:rPr b="1" sz="2200"/>
              <a:t>Project Number (Sender ID)</a:t>
            </a:r>
            <a:r>
              <a:rPr sz="2200"/>
              <a:t>: </a:t>
            </a:r>
            <a:r>
              <a:rPr sz="2200">
                <a:latin typeface="Courier"/>
              </a:rPr>
              <a:t>693074823537</a:t>
            </a:r>
          </a:p>
          <a:p>
            <a:pPr lvl="0"/>
            <a:r>
              <a:rPr b="1" sz="2200"/>
              <a:t>Default Storage Bucket</a:t>
            </a:r>
            <a:r>
              <a:rPr sz="2200"/>
              <a:t>: </a:t>
            </a:r>
            <a:r>
              <a:rPr sz="2200">
                <a:latin typeface="Courier"/>
              </a:rPr>
              <a:t>study-material-nhom11.firebasestorage.app</a:t>
            </a:r>
          </a:p>
          <a:p>
            <a:pPr lvl="0"/>
            <a:r>
              <a:rPr b="1" sz="2200"/>
              <a:t>App ID Web</a:t>
            </a:r>
            <a:r>
              <a:rPr sz="2200"/>
              <a:t>: </a:t>
            </a:r>
            <a:r>
              <a:rPr sz="2200">
                <a:latin typeface="Courier"/>
              </a:rPr>
              <a:t>1:693074823537:web:42784b0b0830f917d48ed0</a:t>
            </a:r>
          </a:p>
          <a:p>
            <a:pPr lvl="0"/>
            <a:r>
              <a:rPr b="1" sz="2200"/>
              <a:t>App ID Android</a:t>
            </a:r>
            <a:r>
              <a:rPr sz="2200"/>
              <a:t>: </a:t>
            </a:r>
            <a:r>
              <a:rPr sz="2200">
                <a:latin typeface="Courier"/>
              </a:rPr>
              <a:t>1:693074823537:android:42784b0b0830f917d48ed0</a:t>
            </a:r>
          </a:p>
          <a:p>
            <a:pPr lvl="0"/>
            <a:r>
              <a:rPr b="1" sz="2200"/>
              <a:t>Package Name Android</a:t>
            </a:r>
            <a:r>
              <a:rPr sz="2200"/>
              <a:t>: </a:t>
            </a:r>
            <a:r>
              <a:rPr sz="2200">
                <a:latin typeface="Courier"/>
              </a:rPr>
              <a:t>vn.nhom11.studydocs.study_material_manager</a:t>
            </a:r>
          </a:p>
          <a:p>
            <a:pPr lvl="0"/>
            <a:r>
              <a:rPr b="1" sz="2200"/>
              <a:t>Khu vực máy chủ (Region)</a:t>
            </a:r>
            <a:r>
              <a:rPr sz="2200"/>
              <a:t>: </a:t>
            </a:r>
            <a:r>
              <a:rPr sz="2200">
                <a:latin typeface="Courier"/>
              </a:rPr>
              <a:t>asia-southeast1</a:t>
            </a:r>
            <a:r>
              <a:rPr sz="2200"/>
              <a:t> (Singapore - tối ưu độ trễ cho Việt Nam).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Bước 1 &amp; 2: Kích hoạt Dịch vụ &amp; Cài đặt Công cụ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sz="2200"/>
              <a:t>Bước 1: Kích hoạt trên Firebase Console</a:t>
            </a:r>
          </a:p>
          <a:p>
            <a:pPr lvl="0"/>
            <a:r>
              <a:rPr sz="2200"/>
              <a:t>Truy cập </a:t>
            </a:r>
            <a:r>
              <a:rPr sz="2200">
                <a:latin typeface="Courier"/>
              </a:rPr>
              <a:t>https://console.firebase.google.com</a:t>
            </a:r>
            <a:r>
              <a:rPr sz="2200"/>
              <a:t> bằng tài khoản nhóm:</a:t>
            </a:r>
          </a:p>
          <a:p>
            <a:pPr lvl="1" indent="-342900" marL="685800">
              <a:buAutoNum type="arabicPeriod"/>
            </a:pPr>
            <a:r>
              <a:rPr b="1" sz="2200"/>
              <a:t>Authentication</a:t>
            </a:r>
            <a:r>
              <a:rPr sz="2200"/>
              <a:t>: Tab </a:t>
            </a:r>
            <a:r>
              <a:rPr i="1" sz="2200"/>
              <a:t>Sign-in method</a:t>
            </a:r>
            <a:r>
              <a:rPr sz="2200"/>
              <a:t> -&gt; Chọn </a:t>
            </a:r>
            <a:r>
              <a:rPr b="1" sz="2200"/>
              <a:t>Google</a:t>
            </a:r>
            <a:r>
              <a:rPr sz="2200"/>
              <a:t> -&gt; Enable -&gt; Chọn Support Email.</a:t>
            </a:r>
          </a:p>
          <a:p>
            <a:pPr lvl="1" indent="-342900" marL="685800">
              <a:buAutoNum type="arabicPeriod"/>
            </a:pPr>
            <a:r>
              <a:rPr b="1" sz="2200"/>
              <a:t>Firestore Database</a:t>
            </a:r>
            <a:r>
              <a:rPr sz="2200"/>
              <a:t>: Bật Firestore -&gt; Chọn chế độ bắt đầu (Test mode) -&gt; Chọn Location </a:t>
            </a:r>
            <a:r>
              <a:rPr sz="2200">
                <a:latin typeface="Courier"/>
              </a:rPr>
              <a:t>asia-southeast1</a:t>
            </a:r>
            <a:r>
              <a:rPr sz="2200"/>
              <a:t>.</a:t>
            </a:r>
          </a:p>
          <a:p>
            <a:pPr lvl="1" indent="-342900" marL="685800">
              <a:buAutoNum type="arabicPeriod"/>
            </a:pPr>
            <a:r>
              <a:rPr b="1" sz="2200"/>
              <a:t>Storage</a:t>
            </a:r>
            <a:r>
              <a:rPr sz="2200"/>
              <a:t>: Bật Cloud Storage -&gt; Xác nhận Bucket Name.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sz="2200"/>
              <a:t>Bước 2: Cài đặt bộ công cụ CLI trên máy phát triển</a:t>
            </a:r>
          </a:p>
          <a:p>
            <a:pPr lvl="0" indent="0">
              <a:buNone/>
            </a:pPr>
            <a:r>
              <a:rPr i="1" sz="2200">
                <a:solidFill>
                  <a:srgbClr val="60A0B0"/>
                </a:solidFill>
                <a:latin typeface="Courier"/>
              </a:rPr>
              <a:t># 1. Cài đặt Firebase CLI toàn cục</a:t>
            </a:r>
            <a:br/>
            <a:r>
              <a:rPr sz="2200">
                <a:latin typeface="Courier"/>
              </a:rPr>
              <a:t>npm install </a:t>
            </a:r>
            <a:r>
              <a:rPr sz="2200">
                <a:solidFill>
                  <a:srgbClr val="7D9029"/>
                </a:solidFill>
                <a:latin typeface="Courier"/>
              </a:rPr>
              <a:t>-g</a:t>
            </a:r>
            <a:r>
              <a:rPr sz="2200">
                <a:latin typeface="Courier"/>
              </a:rPr>
              <a:t> firebase-tools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# 2. Đăng nhập tài khoản Google của nhóm</a:t>
            </a:r>
            <a:br/>
            <a:r>
              <a:rPr sz="2200">
                <a:latin typeface="Courier"/>
              </a:rPr>
              <a:t>firebase login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# 3. Kích hoạt công cụ cấu hình FlutterFire</a:t>
            </a:r>
            <a:br/>
            <a:r>
              <a:rPr sz="2200">
                <a:latin typeface="Courier"/>
              </a:rPr>
              <a:t>dart pub global activate flutterfire_cli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Bước 3 &amp; 4: Cấu hình FlutterFire &amp; SHA Fingerprint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sz="2200"/>
              <a:t>Bước 3: Cấu hình tự động vào mã nguồn</a:t>
            </a:r>
          </a:p>
          <a:p>
            <a:pPr lvl="0" indent="0">
              <a:buNone/>
            </a:pPr>
            <a:r>
              <a:rPr sz="2200">
                <a:solidFill>
                  <a:srgbClr val="008000"/>
                </a:solidFill>
                <a:latin typeface="Courier"/>
              </a:rPr>
              <a:t>cd</a:t>
            </a:r>
            <a:r>
              <a:rPr sz="2200">
                <a:latin typeface="Courier"/>
              </a:rPr>
              <a:t> study_material_manager</a:t>
            </a:r>
            <a:br/>
            <a:r>
              <a:rPr sz="2200">
                <a:latin typeface="Courier"/>
              </a:rPr>
              <a:t>flutterfire configure </a:t>
            </a:r>
            <a:r>
              <a:rPr sz="2200">
                <a:solidFill>
                  <a:srgbClr val="7D9029"/>
                </a:solidFill>
                <a:latin typeface="Courier"/>
              </a:rPr>
              <a:t>--project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study-material-nhom11</a:t>
            </a:r>
          </a:p>
          <a:p>
            <a:pPr lvl="0" indent="0" marL="0">
              <a:buNone/>
            </a:pPr>
            <a:r>
              <a:rPr i="1" sz="2200"/>
              <a:t>-&gt; Lệnh tự động tải cấu hình và sinh ra file </a:t>
            </a:r>
            <a:r>
              <a:rPr i="1" sz="2200">
                <a:latin typeface="Courier"/>
              </a:rPr>
              <a:t>lib/firebase_options.dart</a:t>
            </a:r>
            <a:r>
              <a:rPr i="1" sz="2200"/>
              <a:t> chuẩn xác.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sz="2200"/>
              <a:t>Bước 4: Đăng ký SHA-1 Fingerprint cho Android</a:t>
            </a:r>
          </a:p>
          <a:p>
            <a:pPr lvl="0"/>
            <a:r>
              <a:rPr sz="2200"/>
              <a:t>Google Sign-In trên Android bắt buộc phải khai báo chứng chỉ SHA-1:</a:t>
            </a:r>
          </a:p>
          <a:p>
            <a:pPr lvl="0" indent="0">
              <a:buNone/>
            </a:pPr>
            <a:r>
              <a:rPr sz="2200">
                <a:latin typeface="Courier"/>
              </a:rPr>
              <a:t>keytool </a:t>
            </a:r>
            <a:r>
              <a:rPr sz="2200">
                <a:solidFill>
                  <a:srgbClr val="7D9029"/>
                </a:solidFill>
                <a:latin typeface="Courier"/>
              </a:rPr>
              <a:t>-list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-v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-keystore</a:t>
            </a:r>
            <a:r>
              <a:rPr sz="2200">
                <a:latin typeface="Courier"/>
              </a:rPr>
              <a:t> ~/.android/debug.keystore </a:t>
            </a:r>
            <a:r>
              <a:rPr sz="2200"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7D9029"/>
                </a:solidFill>
                <a:latin typeface="Courier"/>
              </a:rPr>
              <a:t>-alias</a:t>
            </a:r>
            <a:r>
              <a:rPr sz="2200">
                <a:latin typeface="Courier"/>
              </a:rPr>
              <a:t> androiddebugkey </a:t>
            </a:r>
            <a:r>
              <a:rPr sz="2200">
                <a:solidFill>
                  <a:srgbClr val="7D9029"/>
                </a:solidFill>
                <a:latin typeface="Courier"/>
              </a:rPr>
              <a:t>-storepass</a:t>
            </a:r>
            <a:r>
              <a:rPr sz="2200">
                <a:latin typeface="Courier"/>
              </a:rPr>
              <a:t> android </a:t>
            </a:r>
            <a:r>
              <a:rPr sz="2200">
                <a:solidFill>
                  <a:srgbClr val="7D9029"/>
                </a:solidFill>
                <a:latin typeface="Courier"/>
              </a:rPr>
              <a:t>-keypass</a:t>
            </a:r>
            <a:r>
              <a:rPr sz="2200">
                <a:latin typeface="Courier"/>
              </a:rPr>
              <a:t> android</a:t>
            </a:r>
          </a:p>
          <a:p>
            <a:pPr lvl="0"/>
            <a:r>
              <a:rPr sz="2200"/>
              <a:t>Sao chép mã SHA-1 dán vào: </a:t>
            </a:r>
            <a:r>
              <a:rPr i="1" sz="2200"/>
              <a:t>Project Settings -&gt; Your apps -&gt; Android app -&gt; Add Fingerprint</a:t>
            </a:r>
            <a:r>
              <a:rPr sz="2200"/>
              <a:t>.</a:t>
            </a:r>
          </a:p>
          <a:p>
            <a:pPr lvl="0"/>
            <a:r>
              <a:rPr sz="2200"/>
              <a:t>Tải file </a:t>
            </a:r>
            <a:r>
              <a:rPr sz="2200">
                <a:latin typeface="Courier"/>
              </a:rPr>
              <a:t>google-services.json</a:t>
            </a:r>
            <a:r>
              <a:rPr sz="2200"/>
              <a:t> đặt vào thư mục </a:t>
            </a:r>
            <a:r>
              <a:rPr sz="2200">
                <a:latin typeface="Courier"/>
              </a:rPr>
              <a:t>android/app/</a:t>
            </a:r>
            <a:r>
              <a:rPr sz="2200"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Bước 5: Cấu hình Dependencies trong </a:t>
            </a:r>
            <a:r>
              <a:rPr>
                <a:latin typeface="Courier"/>
              </a:rPr>
              <a:t>pubspec.yaml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2200">
                <a:solidFill>
                  <a:srgbClr val="06287E"/>
                </a:solidFill>
                <a:latin typeface="Courier"/>
              </a:rPr>
              <a:t>dependencies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flutter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  </a:t>
            </a:r>
            <a:r>
              <a:rPr sz="2200">
                <a:solidFill>
                  <a:srgbClr val="06287E"/>
                </a:solidFill>
                <a:latin typeface="Courier"/>
              </a:rPr>
              <a:t>sdk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flutter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  # Core Firebase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firebase_core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^3.15.2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  # Xác thực Google &amp; Firebase Auth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firebase_auth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^5.7.0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google_sign_in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^6.2.2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  # Lưu trữ Cloud NoSQL &amp; Object Storage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cloud_firestore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^5.6.12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firebase_storage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^12.4.10</a:t>
            </a:r>
            <a:br/>
            <a:r>
              <a:rPr i="1" sz="2200">
                <a:solidFill>
                  <a:srgbClr val="60A0B0"/>
                </a:solidFill>
                <a:latin typeface="Courier"/>
              </a:rPr>
              <a:t>  # Quản lý trạng thái &amp; Local-First Database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provider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^6.1.2</a:t>
            </a:r>
            <a:br/>
            <a:r>
              <a:rPr sz="2200">
                <a:solidFill>
                  <a:srgbClr val="7D9029"/>
                </a:solidFill>
                <a:latin typeface="Courier"/>
              </a:rPr>
              <a:t>  </a:t>
            </a:r>
            <a:r>
              <a:rPr sz="2200">
                <a:solidFill>
                  <a:srgbClr val="06287E"/>
                </a:solidFill>
                <a:latin typeface="Courier"/>
              </a:rPr>
              <a:t>drift</a:t>
            </a:r>
            <a:r>
              <a:rPr b="1" sz="2200">
                <a:solidFill>
                  <a:srgbClr val="007020"/>
                </a:solidFill>
                <a:latin typeface="Courier"/>
              </a:rPr>
              <a:t>:</a:t>
            </a:r>
            <a:r>
              <a:rPr sz="2200">
                <a:solidFill>
                  <a:srgbClr val="7D9029"/>
                </a:solidFill>
                <a:latin typeface="Courier"/>
              </a:rPr>
              <a:t> ^2.23.1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Triển khai Code: Dịch vụ Xác thực (</a:t>
            </a:r>
            <a:r>
              <a:rPr>
                <a:latin typeface="Courier"/>
              </a:rPr>
              <a:t>AuthService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200"/>
              <a:t>Xử lý xác thực Google đa nền tảng linh hoạt (Web Popup vs. Native Mobile):</a:t>
            </a:r>
          </a:p>
          <a:p>
            <a:pPr lvl="0" indent="0">
              <a:buNone/>
            </a:pPr>
            <a:r>
              <a:rPr b="1" sz="2200">
                <a:solidFill>
                  <a:srgbClr val="007020"/>
                </a:solidFill>
                <a:latin typeface="Courier"/>
              </a:rPr>
              <a:t>class</a:t>
            </a:r>
            <a:r>
              <a:rPr sz="2200">
                <a:latin typeface="Courier"/>
              </a:rPr>
              <a:t> AuthService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FirebaseAuth _auth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FirebaseAuth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instance;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GoogleSignIn _googleSignIn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GoogleSignIn(scopes</a:t>
            </a:r>
            <a:r>
              <a:rPr sz="2200">
                <a:solidFill>
                  <a:srgbClr val="666666"/>
                </a:solidFill>
                <a:latin typeface="Courier"/>
              </a:rPr>
              <a:t>:</a:t>
            </a:r>
            <a:r>
              <a:rPr sz="2200">
                <a:latin typeface="Courier"/>
              </a:rPr>
              <a:t> [</a:t>
            </a:r>
            <a:r>
              <a:rPr sz="2200">
                <a:solidFill>
                  <a:srgbClr val="4070A0"/>
                </a:solidFill>
                <a:latin typeface="Courier"/>
              </a:rPr>
              <a:t>'email'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4070A0"/>
                </a:solidFill>
                <a:latin typeface="Courier"/>
              </a:rPr>
              <a:t>'profile'</a:t>
            </a:r>
            <a:r>
              <a:rPr sz="2200">
                <a:latin typeface="Courier"/>
              </a:rPr>
              <a:t>]);</a:t>
            </a:r>
            <a:br/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902000"/>
                </a:solidFill>
                <a:latin typeface="Courier"/>
              </a:rPr>
              <a:t>Future</a:t>
            </a:r>
            <a:r>
              <a:rPr sz="2200">
                <a:solidFill>
                  <a:srgbClr val="666666"/>
                </a:solidFill>
                <a:latin typeface="Courier"/>
              </a:rPr>
              <a:t>&lt;</a:t>
            </a:r>
            <a:r>
              <a:rPr sz="2200">
                <a:latin typeface="Courier"/>
              </a:rPr>
              <a:t>UserCredential</a:t>
            </a:r>
            <a:r>
              <a:rPr sz="2200">
                <a:solidFill>
                  <a:srgbClr val="666666"/>
                </a:solidFill>
                <a:latin typeface="Courier"/>
              </a:rPr>
              <a:t>?&gt;</a:t>
            </a:r>
            <a:r>
              <a:rPr sz="2200">
                <a:latin typeface="Courier"/>
              </a:rPr>
              <a:t> signInWithGoogle() </a:t>
            </a:r>
            <a:r>
              <a:rPr sz="2200">
                <a:solidFill>
                  <a:srgbClr val="7D9029"/>
                </a:solidFill>
                <a:latin typeface="Courier"/>
              </a:rPr>
              <a:t>async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</a:t>
            </a:r>
            <a:r>
              <a:rPr b="1" sz="2200">
                <a:solidFill>
                  <a:srgbClr val="007020"/>
                </a:solidFill>
                <a:latin typeface="Courier"/>
              </a:rPr>
              <a:t>if</a:t>
            </a:r>
            <a:r>
              <a:rPr sz="2200">
                <a:latin typeface="Courier"/>
              </a:rPr>
              <a:t> (kIsWeb)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googleProvider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GoogleAuthProvider()</a:t>
            </a:r>
            <a:r>
              <a:rPr sz="2200">
                <a:solidFill>
                  <a:srgbClr val="666666"/>
                </a:solidFill>
                <a:latin typeface="Courier"/>
              </a:rPr>
              <a:t>..</a:t>
            </a:r>
            <a:r>
              <a:rPr sz="2200">
                <a:latin typeface="Courier"/>
              </a:rPr>
              <a:t>addScope(</a:t>
            </a:r>
            <a:r>
              <a:rPr sz="2200">
                <a:solidFill>
                  <a:srgbClr val="4070A0"/>
                </a:solidFill>
                <a:latin typeface="Courier"/>
              </a:rPr>
              <a:t>'email'</a:t>
            </a:r>
            <a:r>
              <a:rPr sz="2200">
                <a:latin typeface="Courier"/>
              </a:rPr>
              <a:t>);</a:t>
            </a:r>
            <a:br/>
            <a:r>
              <a:rPr sz="2200">
                <a:latin typeface="Courier"/>
              </a:rPr>
              <a:t>      </a:t>
            </a:r>
            <a:r>
              <a:rPr b="1" sz="2200">
                <a:solidFill>
                  <a:srgbClr val="007020"/>
                </a:solidFill>
                <a:latin typeface="Courier"/>
              </a:rPr>
              <a:t>return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await</a:t>
            </a:r>
            <a:r>
              <a:rPr sz="2200">
                <a:latin typeface="Courier"/>
              </a:rPr>
              <a:t> _auth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signInWithPopup(googleProvider);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r>
              <a:rPr sz="2200">
                <a:latin typeface="Courier"/>
              </a:rPr>
              <a:t> </a:t>
            </a:r>
            <a:r>
              <a:rPr b="1" sz="2200">
                <a:solidFill>
                  <a:srgbClr val="007020"/>
                </a:solidFill>
                <a:latin typeface="Courier"/>
              </a:rPr>
              <a:t>else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googleUser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await</a:t>
            </a:r>
            <a:r>
              <a:rPr sz="2200">
                <a:latin typeface="Courier"/>
              </a:rPr>
              <a:t> _googleSignIn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signIn();</a:t>
            </a:r>
            <a:br/>
            <a:r>
              <a:rPr sz="2200">
                <a:latin typeface="Courier"/>
              </a:rPr>
              <a:t>      </a:t>
            </a:r>
            <a:r>
              <a:rPr b="1" sz="2200">
                <a:solidFill>
                  <a:srgbClr val="007020"/>
                </a:solidFill>
                <a:latin typeface="Courier"/>
              </a:rPr>
              <a:t>if</a:t>
            </a:r>
            <a:r>
              <a:rPr sz="2200">
                <a:latin typeface="Courier"/>
              </a:rPr>
              <a:t> (googleUser </a:t>
            </a:r>
            <a:r>
              <a:rPr sz="2200">
                <a:solidFill>
                  <a:srgbClr val="666666"/>
                </a:solidFill>
                <a:latin typeface="Courier"/>
              </a:rPr>
              <a:t>==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880000"/>
                </a:solidFill>
                <a:latin typeface="Courier"/>
              </a:rPr>
              <a:t>null</a:t>
            </a:r>
            <a:r>
              <a:rPr sz="2200">
                <a:latin typeface="Courier"/>
              </a:rPr>
              <a:t>) </a:t>
            </a:r>
            <a:r>
              <a:rPr b="1" sz="2200">
                <a:solidFill>
                  <a:srgbClr val="007020"/>
                </a:solidFill>
                <a:latin typeface="Courier"/>
              </a:rPr>
              <a:t>return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880000"/>
                </a:solidFill>
                <a:latin typeface="Courier"/>
              </a:rPr>
              <a:t>null</a:t>
            </a:r>
            <a:r>
              <a:rPr sz="2200">
                <a:latin typeface="Courier"/>
              </a:rPr>
              <a:t>;</a:t>
            </a:r>
            <a:br/>
            <a:r>
              <a:rPr sz="2200">
                <a:latin typeface="Courier"/>
              </a:rPr>
              <a:t>  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googleAuth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await</a:t>
            </a:r>
            <a:r>
              <a:rPr sz="2200">
                <a:latin typeface="Courier"/>
              </a:rPr>
              <a:t> googleUser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authentication;</a:t>
            </a:r>
            <a:br/>
            <a:r>
              <a:rPr sz="2200">
                <a:latin typeface="Courier"/>
              </a:rPr>
              <a:t>  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credential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GoogleAuthProvider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credential(</a:t>
            </a:r>
            <a:br/>
            <a:r>
              <a:rPr sz="2200">
                <a:latin typeface="Courier"/>
              </a:rPr>
              <a:t>        accessToken</a:t>
            </a:r>
            <a:r>
              <a:rPr sz="2200">
                <a:solidFill>
                  <a:srgbClr val="666666"/>
                </a:solidFill>
                <a:latin typeface="Courier"/>
              </a:rPr>
              <a:t>:</a:t>
            </a:r>
            <a:r>
              <a:rPr sz="2200">
                <a:latin typeface="Courier"/>
              </a:rPr>
              <a:t> googleAuth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accessToken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sz="2200">
                <a:latin typeface="Courier"/>
              </a:rPr>
              <a:t>        idToken</a:t>
            </a:r>
            <a:r>
              <a:rPr sz="2200">
                <a:solidFill>
                  <a:srgbClr val="666666"/>
                </a:solidFill>
                <a:latin typeface="Courier"/>
              </a:rPr>
              <a:t>:</a:t>
            </a:r>
            <a:r>
              <a:rPr sz="2200">
                <a:latin typeface="Courier"/>
              </a:rPr>
              <a:t> googleAuth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idToken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sz="2200">
                <a:latin typeface="Courier"/>
              </a:rPr>
              <a:t>      );</a:t>
            </a:r>
            <a:br/>
            <a:r>
              <a:rPr sz="2200">
                <a:latin typeface="Courier"/>
              </a:rPr>
              <a:t>      </a:t>
            </a:r>
            <a:r>
              <a:rPr b="1" sz="2200">
                <a:solidFill>
                  <a:srgbClr val="007020"/>
                </a:solidFill>
                <a:latin typeface="Courier"/>
              </a:rPr>
              <a:t>return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7D9029"/>
                </a:solidFill>
                <a:latin typeface="Courier"/>
              </a:rPr>
              <a:t>await</a:t>
            </a:r>
            <a:r>
              <a:rPr sz="2200">
                <a:latin typeface="Courier"/>
              </a:rPr>
              <a:t> _auth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signInWithCredential(credential);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Triển khai Code: Dịch vụ Đồng bộ (</a:t>
            </a:r>
            <a:r>
              <a:rPr>
                <a:latin typeface="Courier"/>
              </a:rPr>
              <a:t>FirebaseSyncService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200"/>
              <a:t>Gom toàn bộ môn học &amp; tài liệu vào </a:t>
            </a:r>
            <a:r>
              <a:rPr b="1" sz="2200"/>
              <a:t>WriteBatch</a:t>
            </a:r>
            <a:r>
              <a:rPr sz="2200"/>
              <a:t> và đẩy lên Storage:</a:t>
            </a:r>
          </a:p>
          <a:p>
            <a:pPr lvl="0" indent="0">
              <a:buNone/>
            </a:pPr>
            <a:r>
              <a:rPr b="1" sz="2200">
                <a:solidFill>
                  <a:srgbClr val="007020"/>
                </a:solidFill>
                <a:latin typeface="Courier"/>
              </a:rPr>
              <a:t>class</a:t>
            </a:r>
            <a:r>
              <a:rPr sz="2200">
                <a:latin typeface="Courier"/>
              </a:rPr>
              <a:t> FirebaseSyncService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FirebaseFirestore _firestore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FirebaseFirestore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instance;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FirebaseStorage _storage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FirebaseStorage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instance;</a:t>
            </a:r>
            <a:br/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902000"/>
                </a:solidFill>
                <a:latin typeface="Courier"/>
              </a:rPr>
              <a:t>Future</a:t>
            </a:r>
            <a:r>
              <a:rPr sz="2200">
                <a:solidFill>
                  <a:srgbClr val="666666"/>
                </a:solidFill>
                <a:latin typeface="Courier"/>
              </a:rPr>
              <a:t>&lt;</a:t>
            </a:r>
            <a:r>
              <a:rPr sz="2200">
                <a:solidFill>
                  <a:srgbClr val="902000"/>
                </a:solidFill>
                <a:latin typeface="Courier"/>
              </a:rPr>
              <a:t>void</a:t>
            </a:r>
            <a:r>
              <a:rPr sz="2200">
                <a:solidFill>
                  <a:srgbClr val="666666"/>
                </a:solidFill>
                <a:latin typeface="Courier"/>
              </a:rPr>
              <a:t>&gt;</a:t>
            </a:r>
            <a:r>
              <a:rPr sz="2200">
                <a:latin typeface="Courier"/>
              </a:rPr>
              <a:t> syncDocumentsToFirestore(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required </a:t>
            </a:r>
            <a:r>
              <a:rPr sz="2200">
                <a:solidFill>
                  <a:srgbClr val="902000"/>
                </a:solidFill>
                <a:latin typeface="Courier"/>
              </a:rPr>
              <a:t>String</a:t>
            </a:r>
            <a:r>
              <a:rPr sz="2200">
                <a:latin typeface="Courier"/>
              </a:rPr>
              <a:t> userId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sz="2200">
                <a:latin typeface="Courier"/>
              </a:rPr>
              <a:t>    required </a:t>
            </a:r>
            <a:r>
              <a:rPr sz="2200">
                <a:solidFill>
                  <a:srgbClr val="902000"/>
                </a:solidFill>
                <a:latin typeface="Courier"/>
              </a:rPr>
              <a:t>List</a:t>
            </a:r>
            <a:r>
              <a:rPr sz="2200">
                <a:solidFill>
                  <a:srgbClr val="666666"/>
                </a:solidFill>
                <a:latin typeface="Courier"/>
              </a:rPr>
              <a:t>&lt;</a:t>
            </a:r>
            <a:r>
              <a:rPr sz="2200">
                <a:latin typeface="Courier"/>
              </a:rPr>
              <a:t>Document</a:t>
            </a:r>
            <a:r>
              <a:rPr sz="2200">
                <a:solidFill>
                  <a:srgbClr val="666666"/>
                </a:solidFill>
                <a:latin typeface="Courier"/>
              </a:rPr>
              <a:t>&gt;</a:t>
            </a:r>
            <a:r>
              <a:rPr sz="2200">
                <a:latin typeface="Courier"/>
              </a:rPr>
              <a:t> documents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sz="2200">
                <a:latin typeface="Courier"/>
              </a:rPr>
              <a:t>    required </a:t>
            </a:r>
            <a:r>
              <a:rPr sz="2200">
                <a:solidFill>
                  <a:srgbClr val="902000"/>
                </a:solidFill>
                <a:latin typeface="Courier"/>
              </a:rPr>
              <a:t>List</a:t>
            </a:r>
            <a:r>
              <a:rPr sz="2200">
                <a:solidFill>
                  <a:srgbClr val="666666"/>
                </a:solidFill>
                <a:latin typeface="Courier"/>
              </a:rPr>
              <a:t>&lt;</a:t>
            </a:r>
            <a:r>
              <a:rPr sz="2200">
                <a:latin typeface="Courier"/>
              </a:rPr>
              <a:t>Subject</a:t>
            </a:r>
            <a:r>
              <a:rPr sz="2200">
                <a:solidFill>
                  <a:srgbClr val="666666"/>
                </a:solidFill>
                <a:latin typeface="Courier"/>
              </a:rPr>
              <a:t>&gt;</a:t>
            </a:r>
            <a:r>
              <a:rPr sz="2200">
                <a:latin typeface="Courier"/>
              </a:rPr>
              <a:t> subjects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r>
              <a:rPr sz="2200">
                <a:latin typeface="Courier"/>
              </a:rPr>
              <a:t>) </a:t>
            </a:r>
            <a:r>
              <a:rPr sz="2200">
                <a:solidFill>
                  <a:srgbClr val="7D9029"/>
                </a:solidFill>
                <a:latin typeface="Courier"/>
              </a:rPr>
              <a:t>async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batch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_firestore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batch();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userDoc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_firestore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collection(</a:t>
            </a:r>
            <a:r>
              <a:rPr sz="2200">
                <a:solidFill>
                  <a:srgbClr val="4070A0"/>
                </a:solidFill>
                <a:latin typeface="Courier"/>
              </a:rPr>
              <a:t>'users'</a:t>
            </a:r>
            <a:r>
              <a:rPr sz="2200">
                <a:latin typeface="Courier"/>
              </a:rPr>
              <a:t>)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doc(userId);</a:t>
            </a:r>
            <a:br/>
            <a:r>
              <a:rPr sz="2200">
                <a:latin typeface="Courier"/>
              </a:rPr>
              <a:t>    </a:t>
            </a:r>
            <a:r>
              <a:rPr b="1" sz="2200">
                <a:solidFill>
                  <a:srgbClr val="007020"/>
                </a:solidFill>
                <a:latin typeface="Courier"/>
              </a:rPr>
              <a:t>for</a:t>
            </a:r>
            <a:r>
              <a:rPr sz="2200">
                <a:latin typeface="Courier"/>
              </a:rPr>
              <a:t> (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s </a:t>
            </a:r>
            <a:r>
              <a:rPr b="1" sz="2200">
                <a:solidFill>
                  <a:srgbClr val="007020"/>
                </a:solidFill>
                <a:latin typeface="Courier"/>
              </a:rPr>
              <a:t>in</a:t>
            </a:r>
            <a:r>
              <a:rPr sz="2200">
                <a:latin typeface="Courier"/>
              </a:rPr>
              <a:t> subjects)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  batch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b="1" sz="2200">
                <a:solidFill>
                  <a:srgbClr val="007020"/>
                </a:solidFill>
                <a:latin typeface="Courier"/>
              </a:rPr>
              <a:t>set</a:t>
            </a:r>
            <a:r>
              <a:rPr sz="2200">
                <a:latin typeface="Courier"/>
              </a:rPr>
              <a:t>(userDoc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collection(</a:t>
            </a:r>
            <a:r>
              <a:rPr sz="2200">
                <a:solidFill>
                  <a:srgbClr val="4070A0"/>
                </a:solidFill>
                <a:latin typeface="Courier"/>
              </a:rPr>
              <a:t>'subjects'</a:t>
            </a:r>
            <a:r>
              <a:rPr sz="2200">
                <a:latin typeface="Courier"/>
              </a:rPr>
              <a:t>)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doc(s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subjectPk)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r>
              <a:rPr sz="2200">
                <a:latin typeface="Courier"/>
              </a:rPr>
              <a:t> s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toMap());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sz="2200">
                <a:latin typeface="Courier"/>
              </a:rPr>
              <a:t>    </a:t>
            </a:r>
            <a:r>
              <a:rPr b="1" sz="2200">
                <a:solidFill>
                  <a:srgbClr val="007020"/>
                </a:solidFill>
                <a:latin typeface="Courier"/>
              </a:rPr>
              <a:t>for</a:t>
            </a:r>
            <a:r>
              <a:rPr sz="2200">
                <a:latin typeface="Courier"/>
              </a:rPr>
              <a:t> (</a:t>
            </a:r>
            <a:r>
              <a:rPr sz="2200">
                <a:solidFill>
                  <a:srgbClr val="7D9029"/>
                </a:solidFill>
                <a:latin typeface="Courier"/>
              </a:rPr>
              <a:t>final</a:t>
            </a:r>
            <a:r>
              <a:rPr sz="2200">
                <a:latin typeface="Courier"/>
              </a:rPr>
              <a:t> d </a:t>
            </a:r>
            <a:r>
              <a:rPr b="1" sz="2200">
                <a:solidFill>
                  <a:srgbClr val="007020"/>
                </a:solidFill>
                <a:latin typeface="Courier"/>
              </a:rPr>
              <a:t>in</a:t>
            </a:r>
            <a:r>
              <a:rPr sz="2200">
                <a:latin typeface="Courier"/>
              </a:rPr>
              <a:t> documents) </a:t>
            </a:r>
            <a:r>
              <a:rPr sz="2200"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sz="2200">
                <a:latin typeface="Courier"/>
              </a:rPr>
              <a:t>      batch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b="1" sz="2200">
                <a:solidFill>
                  <a:srgbClr val="007020"/>
                </a:solidFill>
                <a:latin typeface="Courier"/>
              </a:rPr>
              <a:t>set</a:t>
            </a:r>
            <a:r>
              <a:rPr sz="2200">
                <a:latin typeface="Courier"/>
              </a:rPr>
              <a:t>(userDoc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collection(</a:t>
            </a:r>
            <a:r>
              <a:rPr sz="2200">
                <a:solidFill>
                  <a:srgbClr val="4070A0"/>
                </a:solidFill>
                <a:latin typeface="Courier"/>
              </a:rPr>
              <a:t>'documents'</a:t>
            </a:r>
            <a:r>
              <a:rPr sz="2200">
                <a:latin typeface="Courier"/>
              </a:rPr>
              <a:t>)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doc(d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documentPk)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r>
              <a:rPr sz="2200">
                <a:latin typeface="Courier"/>
              </a:rPr>
              <a:t> d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toMap());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sz="2200">
                <a:latin typeface="Courier"/>
              </a:rPr>
              <a:t>    </a:t>
            </a:r>
            <a:r>
              <a:rPr sz="2200">
                <a:solidFill>
                  <a:srgbClr val="7D9029"/>
                </a:solidFill>
                <a:latin typeface="Courier"/>
              </a:rPr>
              <a:t>await</a:t>
            </a:r>
            <a:r>
              <a:rPr sz="2200">
                <a:latin typeface="Courier"/>
              </a:rPr>
              <a:t> batch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latin typeface="Courier"/>
              </a:rPr>
              <a:t>commit(); </a:t>
            </a:r>
            <a:r>
              <a:rPr i="1" sz="2200">
                <a:solidFill>
                  <a:srgbClr val="60A0B0"/>
                </a:solidFill>
                <a:latin typeface="Courier"/>
              </a:rPr>
              <a:t>// Cam kết nguyên khối (Atomic transaction)</a:t>
            </a:r>
            <a:br/>
            <a:r>
              <a:rPr sz="2200">
                <a:latin typeface="Courier"/>
              </a:rPr>
              <a:t>  </a:t>
            </a:r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sz="220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Thiết lập Quy tắc Bảo mật (Firebase Security 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Nguyên tắc bảo vệ dữ liệu người dùng</a:t>
            </a:r>
            <a:r>
              <a:rPr sz="2200"/>
              <a:t>: Mỗi sinh viên chỉ có quyền truy cập vào đúng đường dẫn dữ liệu gắn với mã định danh </a:t>
            </a:r>
            <a:r>
              <a:rPr sz="2200">
                <a:latin typeface="Courier"/>
              </a:rPr>
              <a:t>UID</a:t>
            </a:r>
            <a:r>
              <a:rPr sz="2200"/>
              <a:t> của mình:</a:t>
            </a:r>
          </a:p>
          <a:p>
            <a:pPr lvl="0" indent="0">
              <a:buNone/>
            </a:pPr>
            <a:r>
              <a:rPr i="1" sz="2200">
                <a:solidFill>
                  <a:srgbClr val="60A0B0"/>
                </a:solidFill>
                <a:latin typeface="Courier"/>
              </a:rPr>
              <a:t>// firestore.rules</a:t>
            </a:r>
            <a:br/>
            <a:r>
              <a:rPr sz="2200">
                <a:latin typeface="Courier"/>
              </a:rPr>
              <a:t>rules_version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4070A0"/>
                </a:solidFill>
                <a:latin typeface="Courier"/>
              </a:rPr>
              <a:t>'2'</a:t>
            </a:r>
            <a:r>
              <a:rPr sz="22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sz="2200">
                <a:latin typeface="Courier"/>
              </a:rPr>
              <a:t>service cloud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firestore</a:t>
            </a:r>
            <a:r>
              <a:rPr sz="2200">
                <a:latin typeface="Courier"/>
              </a:rPr>
              <a:t> {</a:t>
            </a:r>
            <a:br/>
            <a:r>
              <a:rPr sz="2200">
                <a:latin typeface="Courier"/>
              </a:rPr>
              <a:t>  match </a:t>
            </a:r>
            <a:r>
              <a:rPr sz="2200">
                <a:solidFill>
                  <a:srgbClr val="666666"/>
                </a:solidFill>
                <a:latin typeface="Courier"/>
              </a:rPr>
              <a:t>/</a:t>
            </a:r>
            <a:r>
              <a:rPr sz="2200">
                <a:latin typeface="Courier"/>
              </a:rPr>
              <a:t>databases</a:t>
            </a:r>
            <a:r>
              <a:rPr sz="2200">
                <a:solidFill>
                  <a:srgbClr val="666666"/>
                </a:solidFill>
                <a:latin typeface="Courier"/>
              </a:rPr>
              <a:t>/</a:t>
            </a:r>
            <a:r>
              <a:rPr sz="2200">
                <a:latin typeface="Courier"/>
              </a:rPr>
              <a:t>{database}</a:t>
            </a:r>
            <a:r>
              <a:rPr sz="2200">
                <a:solidFill>
                  <a:srgbClr val="BB6688"/>
                </a:solidFill>
                <a:latin typeface="Courier"/>
              </a:rPr>
              <a:t>/documents {</a:t>
            </a:r>
            <a:br/>
            <a:r>
              <a:rPr sz="2200">
                <a:solidFill>
                  <a:srgbClr val="BB6688"/>
                </a:solidFill>
                <a:latin typeface="Courier"/>
              </a:rPr>
              <a:t>    match /users/{userId}/</a:t>
            </a:r>
            <a:r>
              <a:rPr sz="2200">
                <a:latin typeface="Courier"/>
              </a:rPr>
              <a:t>{</a:t>
            </a:r>
            <a:r>
              <a:rPr sz="2200">
                <a:solidFill>
                  <a:srgbClr val="008000"/>
                </a:solidFill>
                <a:latin typeface="Courier"/>
              </a:rPr>
              <a:t>document</a:t>
            </a:r>
            <a:r>
              <a:rPr sz="2200">
                <a:solidFill>
                  <a:srgbClr val="666666"/>
                </a:solidFill>
                <a:latin typeface="Courier"/>
              </a:rPr>
              <a:t>=**</a:t>
            </a:r>
            <a:r>
              <a:rPr sz="2200">
                <a:latin typeface="Courier"/>
              </a:rPr>
              <a:t>} {</a:t>
            </a:r>
            <a:br/>
            <a:r>
              <a:rPr sz="2200">
                <a:latin typeface="Courier"/>
              </a:rPr>
              <a:t>      allow read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902000"/>
                </a:solidFill>
                <a:latin typeface="Courier"/>
              </a:rPr>
              <a:t>write</a:t>
            </a:r>
            <a:r>
              <a:rPr sz="2200">
                <a:solidFill>
                  <a:srgbClr val="666666"/>
                </a:solidFill>
                <a:latin typeface="Courier"/>
              </a:rPr>
              <a:t>:</a:t>
            </a:r>
            <a:r>
              <a:rPr sz="2200">
                <a:latin typeface="Courier"/>
              </a:rPr>
              <a:t> </a:t>
            </a:r>
            <a:r>
              <a:rPr b="1" sz="2200">
                <a:solidFill>
                  <a:srgbClr val="007020"/>
                </a:solidFill>
                <a:latin typeface="Courier"/>
              </a:rPr>
              <a:t>if</a:t>
            </a:r>
            <a:r>
              <a:rPr sz="2200">
                <a:latin typeface="Courier"/>
              </a:rPr>
              <a:t> request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auth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!=</a:t>
            </a:r>
            <a:r>
              <a:rPr sz="2200">
                <a:latin typeface="Courier"/>
              </a:rPr>
              <a:t> </a:t>
            </a:r>
            <a:r>
              <a:rPr b="1" sz="2200">
                <a:solidFill>
                  <a:srgbClr val="007020"/>
                </a:solidFill>
                <a:latin typeface="Courier"/>
              </a:rPr>
              <a:t>null</a:t>
            </a:r>
            <a:r>
              <a:rPr sz="2200">
                <a:latin typeface="Courier"/>
              </a:rPr>
              <a:t> </a:t>
            </a:r>
            <a:br/>
            <a:r>
              <a:rPr sz="2200">
                <a:latin typeface="Courier"/>
              </a:rPr>
              <a:t>                         </a:t>
            </a:r>
            <a:r>
              <a:rPr sz="2200">
                <a:solidFill>
                  <a:srgbClr val="666666"/>
                </a:solidFill>
                <a:latin typeface="Courier"/>
              </a:rPr>
              <a:t>&amp;&amp;</a:t>
            </a:r>
            <a:r>
              <a:rPr sz="2200">
                <a:latin typeface="Courier"/>
              </a:rPr>
              <a:t> request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uid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==</a:t>
            </a:r>
            <a:r>
              <a:rPr sz="2200">
                <a:latin typeface="Courier"/>
              </a:rPr>
              <a:t> userId</a:t>
            </a:r>
            <a:r>
              <a:rPr sz="22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sz="2200">
                <a:latin typeface="Courier"/>
              </a:rPr>
              <a:t>    }</a:t>
            </a:r>
            <a:br/>
            <a:r>
              <a:rPr sz="2200">
                <a:latin typeface="Courier"/>
              </a:rPr>
              <a:t>  }</a:t>
            </a:r>
            <a:br/>
            <a:r>
              <a:rPr sz="2200">
                <a:latin typeface="Courier"/>
              </a:rPr>
              <a:t>}</a:t>
            </a:r>
            <a:br/>
            <a:br/>
            <a:r>
              <a:rPr i="1" sz="2200">
                <a:solidFill>
                  <a:srgbClr val="60A0B0"/>
                </a:solidFill>
                <a:latin typeface="Courier"/>
              </a:rPr>
              <a:t>// storage.rules</a:t>
            </a:r>
            <a:br/>
            <a:r>
              <a:rPr sz="2200">
                <a:latin typeface="Courier"/>
              </a:rPr>
              <a:t>rules_version </a:t>
            </a:r>
            <a:r>
              <a:rPr sz="2200">
                <a:solidFill>
                  <a:srgbClr val="666666"/>
                </a:solidFill>
                <a:latin typeface="Courier"/>
              </a:rPr>
              <a:t>=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4070A0"/>
                </a:solidFill>
                <a:latin typeface="Courier"/>
              </a:rPr>
              <a:t>'2'</a:t>
            </a:r>
            <a:r>
              <a:rPr sz="22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sz="2200">
                <a:latin typeface="Courier"/>
              </a:rPr>
              <a:t>service firebase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storage</a:t>
            </a:r>
            <a:r>
              <a:rPr sz="2200">
                <a:latin typeface="Courier"/>
              </a:rPr>
              <a:t> {</a:t>
            </a:r>
            <a:br/>
            <a:r>
              <a:rPr sz="2200">
                <a:latin typeface="Courier"/>
              </a:rPr>
              <a:t>  match </a:t>
            </a:r>
            <a:r>
              <a:rPr sz="2200">
                <a:solidFill>
                  <a:srgbClr val="666666"/>
                </a:solidFill>
                <a:latin typeface="Courier"/>
              </a:rPr>
              <a:t>/</a:t>
            </a:r>
            <a:r>
              <a:rPr sz="2200">
                <a:latin typeface="Courier"/>
              </a:rPr>
              <a:t>b</a:t>
            </a:r>
            <a:r>
              <a:rPr sz="2200">
                <a:solidFill>
                  <a:srgbClr val="666666"/>
                </a:solidFill>
                <a:latin typeface="Courier"/>
              </a:rPr>
              <a:t>/</a:t>
            </a:r>
            <a:r>
              <a:rPr sz="2200">
                <a:latin typeface="Courier"/>
              </a:rPr>
              <a:t>{bucket}</a:t>
            </a:r>
            <a:r>
              <a:rPr sz="2200">
                <a:solidFill>
                  <a:srgbClr val="BB6688"/>
                </a:solidFill>
                <a:latin typeface="Courier"/>
              </a:rPr>
              <a:t>/o {</a:t>
            </a:r>
            <a:br/>
            <a:r>
              <a:rPr sz="2200">
                <a:solidFill>
                  <a:srgbClr val="BB6688"/>
                </a:solidFill>
                <a:latin typeface="Courier"/>
              </a:rPr>
              <a:t>    match /users/{userId}/</a:t>
            </a:r>
            <a:r>
              <a:rPr sz="2200">
                <a:latin typeface="Courier"/>
              </a:rPr>
              <a:t>{allPaths</a:t>
            </a:r>
            <a:r>
              <a:rPr sz="2200">
                <a:solidFill>
                  <a:srgbClr val="666666"/>
                </a:solidFill>
                <a:latin typeface="Courier"/>
              </a:rPr>
              <a:t>=**</a:t>
            </a:r>
            <a:r>
              <a:rPr sz="2200">
                <a:latin typeface="Courier"/>
              </a:rPr>
              <a:t>} {</a:t>
            </a:r>
            <a:br/>
            <a:r>
              <a:rPr sz="2200">
                <a:latin typeface="Courier"/>
              </a:rPr>
              <a:t>      allow read</a:t>
            </a:r>
            <a:r>
              <a:rPr sz="2200">
                <a:solidFill>
                  <a:srgbClr val="666666"/>
                </a:solidFill>
                <a:latin typeface="Courier"/>
              </a:rPr>
              <a:t>,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902000"/>
                </a:solidFill>
                <a:latin typeface="Courier"/>
              </a:rPr>
              <a:t>write</a:t>
            </a:r>
            <a:r>
              <a:rPr sz="2200">
                <a:solidFill>
                  <a:srgbClr val="666666"/>
                </a:solidFill>
                <a:latin typeface="Courier"/>
              </a:rPr>
              <a:t>:</a:t>
            </a:r>
            <a:r>
              <a:rPr sz="2200">
                <a:latin typeface="Courier"/>
              </a:rPr>
              <a:t> </a:t>
            </a:r>
            <a:r>
              <a:rPr b="1" sz="2200">
                <a:solidFill>
                  <a:srgbClr val="007020"/>
                </a:solidFill>
                <a:latin typeface="Courier"/>
              </a:rPr>
              <a:t>if</a:t>
            </a:r>
            <a:r>
              <a:rPr sz="2200">
                <a:latin typeface="Courier"/>
              </a:rPr>
              <a:t> request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auth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!=</a:t>
            </a:r>
            <a:r>
              <a:rPr sz="2200">
                <a:latin typeface="Courier"/>
              </a:rPr>
              <a:t> </a:t>
            </a:r>
            <a:r>
              <a:rPr b="1" sz="2200">
                <a:solidFill>
                  <a:srgbClr val="007020"/>
                </a:solidFill>
                <a:latin typeface="Courier"/>
              </a:rPr>
              <a:t>null</a:t>
            </a:r>
            <a:r>
              <a:rPr sz="2200">
                <a:latin typeface="Courier"/>
              </a:rPr>
              <a:t> </a:t>
            </a:r>
            <a:br/>
            <a:r>
              <a:rPr sz="2200">
                <a:latin typeface="Courier"/>
              </a:rPr>
              <a:t>                         </a:t>
            </a:r>
            <a:r>
              <a:rPr sz="2200">
                <a:solidFill>
                  <a:srgbClr val="666666"/>
                </a:solidFill>
                <a:latin typeface="Courier"/>
              </a:rPr>
              <a:t>&amp;&amp;</a:t>
            </a:r>
            <a:r>
              <a:rPr sz="2200">
                <a:latin typeface="Courier"/>
              </a:rPr>
              <a:t> request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auth</a:t>
            </a:r>
            <a:r>
              <a:rPr sz="2200">
                <a:solidFill>
                  <a:srgbClr val="666666"/>
                </a:solidFill>
                <a:latin typeface="Courier"/>
              </a:rPr>
              <a:t>.</a:t>
            </a:r>
            <a:r>
              <a:rPr sz="2200">
                <a:solidFill>
                  <a:srgbClr val="7D9029"/>
                </a:solidFill>
                <a:latin typeface="Courier"/>
              </a:rPr>
              <a:t>uid</a:t>
            </a:r>
            <a:r>
              <a:rPr sz="2200">
                <a:latin typeface="Courier"/>
              </a:rPr>
              <a:t> </a:t>
            </a:r>
            <a:r>
              <a:rPr sz="2200">
                <a:solidFill>
                  <a:srgbClr val="666666"/>
                </a:solidFill>
                <a:latin typeface="Courier"/>
              </a:rPr>
              <a:t>==</a:t>
            </a:r>
            <a:r>
              <a:rPr sz="2200">
                <a:latin typeface="Courier"/>
              </a:rPr>
              <a:t> userId</a:t>
            </a:r>
            <a:r>
              <a:rPr sz="2200"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sz="2200">
                <a:latin typeface="Courier"/>
              </a:rPr>
              <a:t>    }</a:t>
            </a:r>
            <a:br/>
            <a:r>
              <a:rPr sz="2200">
                <a:latin typeface="Courier"/>
              </a:rPr>
              <a:t>  }</a:t>
            </a:r>
            <a:br/>
            <a:r>
              <a:rPr sz="2200">
                <a:latin typeface="Courier"/>
              </a:rPr>
              <a:t>}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15. Đánh giá Chi phí &amp; Hiệu năng sau Tích hợp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Chi phí vận hành</a:t>
            </a:r>
            <a:r>
              <a:rPr sz="2200"/>
              <a:t>:</a:t>
            </a:r>
          </a:p>
          <a:p>
            <a:pPr lvl="1"/>
            <a:r>
              <a:rPr sz="2200"/>
              <a:t>Nằm hoàn toàn trong </a:t>
            </a:r>
            <a:r>
              <a:rPr b="1" sz="2200"/>
              <a:t>Gói Spark Miễn phí (Free Tier)</a:t>
            </a:r>
            <a:r>
              <a:rPr sz="2200"/>
              <a:t> của Firebase.</a:t>
            </a:r>
          </a:p>
          <a:p>
            <a:pPr lvl="1"/>
            <a:r>
              <a:rPr sz="2200"/>
              <a:t>Xác thực Google: Miễn phí không giới hạn.</a:t>
            </a:r>
          </a:p>
          <a:p>
            <a:pPr lvl="1"/>
            <a:r>
              <a:rPr sz="2200"/>
              <a:t>Firestore: 50.000 lượt đọc, 20.000 lượt ghi mỗi ngày.</a:t>
            </a:r>
          </a:p>
          <a:p>
            <a:pPr lvl="1"/>
            <a:r>
              <a:rPr sz="2200"/>
              <a:t>Cloud Storage: 5 GB dung lượng lưu trữ miễn phí vĩnh viễn.</a:t>
            </a:r>
          </a:p>
          <a:p>
            <a:pPr lvl="0"/>
            <a:r>
              <a:rPr b="1" sz="2200"/>
              <a:t>Hiệu năng &amp; Trải nghiệm (UX)</a:t>
            </a:r>
            <a:r>
              <a:rPr sz="2200"/>
              <a:t>:</a:t>
            </a:r>
          </a:p>
          <a:p>
            <a:pPr lvl="1"/>
            <a:r>
              <a:rPr sz="2200"/>
              <a:t>Tốc độ phản hồi tức thời nhờ kiến trúc </a:t>
            </a:r>
            <a:r>
              <a:rPr b="1" sz="2200"/>
              <a:t>Local-First (Drift SQLite)</a:t>
            </a:r>
            <a:r>
              <a:rPr sz="2200"/>
              <a:t>.</a:t>
            </a:r>
          </a:p>
          <a:p>
            <a:pPr lvl="1"/>
            <a:r>
              <a:rPr sz="2200"/>
              <a:t>Không lo mất dữ liệu khi chuyển thiết bị hoặc gỡ cài đặt app.</a:t>
            </a:r>
          </a:p>
          <a:p>
            <a:pPr lvl="1"/>
            <a:r>
              <a:rPr sz="2200"/>
              <a:t>Đồng bộ bất đồng bộ mượt mà dưới nền (Asynchronous non-blocking UI).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16. Tổng kết Nghiệm thu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sz="2200"/>
              <a:t>Kết quả nghiệm thu của Nhóm 11</a:t>
            </a:r>
            <a:r>
              <a:rPr sz="2200"/>
              <a:t>:</a:t>
            </a:r>
          </a:p>
          <a:p>
            <a:pPr lvl="1"/>
            <a:r>
              <a:rPr sz="2200"/>
              <a:t>☒ Tích hợp thành công Google Sign-In trên cả Web &amp; Mobile.</a:t>
            </a:r>
          </a:p>
          <a:p>
            <a:pPr lvl="1"/>
            <a:r>
              <a:rPr sz="2200"/>
              <a:t>☒ Đồng bộ 2 chiều dữ liệu môn học, tài liệu lên Cloud Firestore.</a:t>
            </a:r>
          </a:p>
          <a:p>
            <a:pPr lvl="1"/>
            <a:r>
              <a:rPr sz="2200"/>
              <a:t>☒ Lưu trữ tệp tin tài liệu lên Firebase Storage an toàn.</a:t>
            </a:r>
          </a:p>
          <a:p>
            <a:pPr lvl="1"/>
            <a:r>
              <a:rPr sz="2200"/>
              <a:t>☒ Đạt chuẩn kiến trúc Cashew (phân lớp chặt chẽ, 21 unit/widget tests đều pass).</a:t>
            </a:r>
          </a:p>
          <a:p>
            <a:pPr lvl="1"/>
            <a:r>
              <a:rPr sz="2200"/>
              <a:t>☒ Xây dựng đầy đủ tài liệu hướng dẫn và Slide thuyết trình.</a:t>
            </a:r>
          </a:p>
          <a:p>
            <a:pPr lvl="0"/>
            <a:r>
              <a:rPr b="1" sz="2200"/>
              <a:t>Hướng phát triển tương lai</a:t>
            </a:r>
            <a:r>
              <a:rPr sz="2200"/>
              <a:t>:</a:t>
            </a:r>
          </a:p>
          <a:p>
            <a:pPr lvl="1"/>
            <a:r>
              <a:rPr sz="2200"/>
              <a:t>Tích hợp </a:t>
            </a:r>
            <a:r>
              <a:rPr b="1" sz="2200"/>
              <a:t>Firebase Cloud Messaging (FCM)</a:t>
            </a:r>
            <a:r>
              <a:rPr sz="2200"/>
              <a:t> gửi thông báo lịch nộp bài tập.</a:t>
            </a:r>
          </a:p>
          <a:p>
            <a:pPr lvl="1"/>
            <a:r>
              <a:rPr sz="2200"/>
              <a:t>Chia sẻ tài liệu học tập theo nhóm sinh viên qua liên kết phân quyền.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17. Lời Cảm ơn &amp; Hỏi Đáp (Q&amp;A)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sz="2200"/>
              <a:t>CẢM ƠN THẦY CÔ VÀ CÁC BẠN ĐÃ LẮNG NGHE!</a:t>
            </a:r>
          </a:p>
          <a:p>
            <a:pPr lvl="0" indent="0" marL="0">
              <a:buNone/>
            </a:pPr>
            <a:r>
              <a:rPr b="1" sz="2200"/>
              <a:t>Dự án Quản lý Tài liệu Học tập theo Kiến trúc Cashew</a:t>
            </a:r>
            <a:br/>
            <a:r>
              <a:rPr i="1" sz="2200"/>
              <a:t>Mã nguồn hoàn chỉnh: </a:t>
            </a:r>
            <a:r>
              <a:rPr i="1" sz="2200">
                <a:latin typeface="Courier"/>
              </a:rPr>
              <a:t>study_material_manager.zip</a:t>
            </a:r>
            <a:br/>
            <a:r>
              <a:rPr i="1" sz="2200"/>
              <a:t>Báo cáo kiến trúc: </a:t>
            </a:r>
            <a:r>
              <a:rPr i="1" sz="2200">
                <a:latin typeface="Courier"/>
              </a:rPr>
              <a:t>Bao_Cao_Kien_Truc_Cashew_Study_Material_Manager.docx</a:t>
            </a:r>
            <a:br/>
            <a:r>
              <a:rPr i="1" sz="2200"/>
              <a:t>Slide thuyết trình: </a:t>
            </a:r>
            <a:r>
              <a:rPr i="1" sz="2200">
                <a:latin typeface="Courier"/>
              </a:rPr>
              <a:t>SLIDE_TIM_HIEU_VA_SETUP_FIREBASE.pptx</a:t>
            </a:r>
          </a:p>
          <a:p>
            <a:pPr lvl="0" indent="0" marL="0">
              <a:buNone/>
            </a:pPr>
            <a:r>
              <a:rPr b="1" sz="2200"/>
              <a:t>Mời Thầy Cô và các bạn đặt câu hỏi (Q&amp;A)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VỀ GOOGLE FIREBASE VÀ HƯỚNG DẪN THIẾT LẬP DỰ ÁN</dc:title>
  <dc:creator>Nhóm 11 - Kiến trúc Phần mềm Cashew</dc:creator>
  <cp:keywords/>
  <dcterms:created xsi:type="dcterms:W3CDTF">2026-10-09T16:50:15Z</dcterms:created>
  <dcterms:modified xsi:type="dcterms:W3CDTF">2026-10-09T16:50:15Z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olortheme">
    <vt:lpwstr>beaver</vt:lpwstr>
  </property>
  <property fmtid="{D5CDD505-2E9C-101B-9397-08002B2CF9AE}" pid="4" name="date">
    <vt:lpwstr>Tháng 10/2026</vt:lpwstr>
  </property>
  <property fmtid="{D5CDD505-2E9C-101B-9397-08002B2CF9AE}" pid="5" name="subtitle">
    <vt:lpwstr>Tích hợp Google Authentication, Cloud Firestore &amp; Firebase Storage vào Ứng dụng Quản lý Tài liệu Học tập</vt:lpwstr>
  </property>
  <property fmtid="{D5CDD505-2E9C-101B-9397-08002B2CF9AE}" pid="6" name="theme">
    <vt:lpwstr>Madrid</vt:lpwstr>
  </property>
</Properties>
</file>